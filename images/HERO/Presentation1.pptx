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5" r:id="rId8"/>
    <p:sldId id="266" r:id="rId9"/>
    <p:sldId id="264" r:id="rId10"/>
  </p:sldIdLst>
  <p:sldSz cx="12192000" cy="6858000"/>
  <p:notesSz cx="6858000" cy="9144000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6529"/>
    <a:srgbClr val="4C7430"/>
    <a:srgbClr val="5A8B39"/>
    <a:srgbClr val="E6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5607-B966-6CDD-5C71-5C760E78F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F1507-3EC1-8A99-3DD9-DBD9CA71A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2DA5C-C82D-ED36-8E48-EF7E1C3C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09/05/2026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0F8AA-CEC5-2ECF-C000-938A4727B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41BCD-3E33-DEF1-40EC-4CC0518F1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482094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BD33-DA71-B86D-6133-46441ED3F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E884D-E105-771C-AEE7-A18060B52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1E046-D12D-1A4E-6332-A60926090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09/05/2026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B1AEC-0DEC-5D7B-331A-7AE8C8A3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37D41-61D5-E6B7-1E01-B05A5898C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13785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4CC59-04F8-7F9B-35AC-27E749A2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7F830-D45A-3D62-19E3-F19397FA1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1A3F6-EF54-6278-D198-4BA46E5F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09/05/2026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FA83E-74EA-DD7B-A9B5-223AAD30A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A1085-31A3-C92E-4E4E-20860FF3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75018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77F3-415E-2612-ECB5-699AC9D08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125AD-B6E7-E3DB-22E6-6C981A87A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9A7B12-9E5D-B821-3123-26C596BD0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864A9-9390-053F-DD66-F617C26C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09/05/2026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EF588-CD58-EEE8-8702-5F51C5D6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2E69D-A975-8DE0-B0E4-32820C825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273537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C0EF1-8077-10AD-3664-C5EAB05E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9305A-072B-B378-63F6-1266CD1F8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6146D-1BF6-28E2-DF5B-E5672BD4D1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F27E8F-601F-F8D0-8B68-D2AB23045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467F1E-9A29-3C4F-BB4A-2EF6ADBE8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AB2B29-1C71-41C8-2A0B-04261AA05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09/05/2026</a:t>
            </a:fld>
            <a:endParaRPr lang="en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790865-54FD-1270-B2B7-69094AA6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17B75-0AD7-0F7E-808F-CA39D64A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93734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7203-489D-4639-CAB7-D6981B59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4405C-5111-4F89-BEA4-EE0ACE885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09/05/2026</a:t>
            </a:fld>
            <a:endParaRPr lang="en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8AC83-92C2-284F-647F-5482A8C72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BDCBF-1ECD-4B10-06BD-73F8EFEA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46652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DC397-1D9E-40CC-C147-2017FABC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09/05/2026</a:t>
            </a:fld>
            <a:endParaRPr lang="en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EA8E6F-54B5-CF10-9696-79B5BBBB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A5D65-7BAB-AF46-4B5B-FBDA7221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361821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A0DB-199D-03B7-8952-046EEDD8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70CD3-C89F-5300-1049-04E7FED10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AE5B8-470D-AFBA-DD76-459B051F6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83E02-DFCD-6545-3091-2F2B374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09/05/2026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ED471-0364-CC1E-5586-EB6A69DE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D0C14-95F2-1204-F2D7-732782776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37167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F45F-402A-240B-BD4F-46E660E54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41CF7-F7AD-EDAA-F539-2EFDA0235D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A914A-5A8E-E396-BCDC-82D59301D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8FB4F-98C8-F26F-77E8-5C06B5EF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09/05/2026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DA612-D3BC-FD93-E92F-17CAE3B6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AD3E21-5FDB-289B-01AD-90351505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35918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5EE32-159C-AF16-79F7-C0053867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B96AA-E455-80B5-0D57-7F5B63D7F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66561-3E6B-CE49-C037-D9B65A99A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09/05/2026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DCC48-D85F-D1A0-5B33-77575410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02080-FE91-06F4-EF5F-72B162C1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70678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B41D7D-750A-09A2-4A0F-CF52A1D58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89AA9-D816-BD45-B0C0-6662A590E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163D7-9121-F953-D40A-15DD04B28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66F02-2738-48A5-91FC-34EDB5F0DB91}" type="datetimeFigureOut">
              <a:rPr lang="en-SI" smtClean="0"/>
              <a:t>09/05/2026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1ACBF-1029-2B6E-7F41-D26BE8D99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C88B5-3D0F-17D9-2491-553B65C7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921975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6CA00-B96D-93EF-1FEC-354149F02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8292F-424A-55BB-DD95-C87E1DFB6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3AB86-E9F8-4686-2E67-BC3C9C272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66F02-2738-48A5-91FC-34EDB5F0DB91}" type="datetimeFigureOut">
              <a:rPr lang="en-SI" smtClean="0"/>
              <a:t>09/05/2026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44189-C035-D43C-97EE-F9FCD8BF4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3DA9-1BD3-BB39-B8AD-0C252D377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0DAA8-7A1A-4872-A107-3590BAC34C7E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816730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5C73EDF-4D6E-8BA2-1D20-1DDF65847108}"/>
              </a:ext>
            </a:extLst>
          </p:cNvPr>
          <p:cNvGrpSpPr/>
          <p:nvPr/>
        </p:nvGrpSpPr>
        <p:grpSpPr>
          <a:xfrm>
            <a:off x="952500" y="0"/>
            <a:ext cx="10287000" cy="6858000"/>
            <a:chOff x="952500" y="0"/>
            <a:chExt cx="10287000" cy="68580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6301491-0405-9BB3-7BB8-E507CD62AE10}"/>
                </a:ext>
              </a:extLst>
            </p:cNvPr>
            <p:cNvGrpSpPr/>
            <p:nvPr/>
          </p:nvGrpSpPr>
          <p:grpSpPr>
            <a:xfrm>
              <a:off x="952500" y="0"/>
              <a:ext cx="10287000" cy="6858000"/>
              <a:chOff x="952500" y="0"/>
              <a:chExt cx="10287000" cy="6858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AA9701C-E64D-F39B-E098-32FFE14879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2500" y="0"/>
                <a:ext cx="10287000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8ED084-F41E-0439-1D7E-EB981E37565D}"/>
                  </a:ext>
                </a:extLst>
              </p:cNvPr>
              <p:cNvSpPr txBox="1"/>
              <p:nvPr/>
            </p:nvSpPr>
            <p:spPr>
              <a:xfrm>
                <a:off x="5451893" y="629728"/>
                <a:ext cx="5417389" cy="5509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sl-SI" sz="4800" b="1" noProof="0" dirty="0">
                    <a:solidFill>
                      <a:srgbClr val="00B050"/>
                    </a:solidFill>
                  </a:rPr>
                  <a:t>Tvoje finance, razložene preprosto</a:t>
                </a:r>
              </a:p>
              <a:p>
                <a:pPr algn="ctr"/>
                <a:endParaRPr lang="en-US" sz="2800" noProof="0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algn="ctr"/>
                <a:endParaRPr lang="sl-SI" sz="2800" noProof="0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algn="ctr"/>
                <a:r>
                  <a:rPr lang="sl-SI" sz="3200" noProof="0" dirty="0">
                    <a:solidFill>
                      <a:schemeClr val="bg1"/>
                    </a:solidFill>
                  </a:rPr>
                  <a:t>Izračunaj svoj kredit— brez registracije in popolnoma brezplačno za vse.</a:t>
                </a:r>
                <a:endParaRPr lang="sl-SI" sz="2400" noProof="0" dirty="0">
                  <a:solidFill>
                    <a:schemeClr val="bg1"/>
                  </a:solidFill>
                </a:endParaRPr>
              </a:p>
              <a:p>
                <a:pPr algn="ctr"/>
                <a:endParaRPr lang="sl-SI" sz="2400" noProof="0" dirty="0">
                  <a:solidFill>
                    <a:schemeClr val="bg1"/>
                  </a:solidFill>
                </a:endParaRPr>
              </a:p>
              <a:p>
                <a:pPr algn="ctr"/>
                <a:endParaRPr lang="sl-SI" sz="2400" noProof="0" dirty="0">
                  <a:solidFill>
                    <a:schemeClr val="bg1"/>
                  </a:solidFill>
                </a:endParaRPr>
              </a:p>
              <a:p>
                <a:pPr algn="ctr"/>
                <a:endParaRPr lang="sl-SI" sz="2400" noProof="0" dirty="0">
                  <a:solidFill>
                    <a:schemeClr val="bg1"/>
                  </a:solidFill>
                </a:endParaRPr>
              </a:p>
              <a:p>
                <a:pPr algn="r"/>
                <a:r>
                  <a:rPr lang="sl-SI" sz="3200" noProof="0" dirty="0">
                    <a:solidFill>
                      <a:schemeClr val="bg1"/>
                    </a:solidFill>
                  </a:rPr>
                  <a:t>FinPortal.si</a:t>
                </a:r>
              </a:p>
            </p:txBody>
          </p: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8AF1C65-6119-CD51-AB9F-E4F5FEF2A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2181" y="5313871"/>
              <a:ext cx="992039" cy="9920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2649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628E4EB-0DEA-8FBF-E133-1A724B2BB107}"/>
              </a:ext>
            </a:extLst>
          </p:cNvPr>
          <p:cNvGrpSpPr/>
          <p:nvPr/>
        </p:nvGrpSpPr>
        <p:grpSpPr>
          <a:xfrm>
            <a:off x="952040" y="0"/>
            <a:ext cx="10287919" cy="6858000"/>
            <a:chOff x="952040" y="0"/>
            <a:chExt cx="10287919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1F7DE0B-1891-F04F-193B-1B38DE85D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040" y="0"/>
              <a:ext cx="10287919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FC7C20-0015-D1C2-3EAA-56733B7DA430}"/>
                </a:ext>
              </a:extLst>
            </p:cNvPr>
            <p:cNvSpPr txBox="1"/>
            <p:nvPr/>
          </p:nvSpPr>
          <p:spPr>
            <a:xfrm>
              <a:off x="1962150" y="631823"/>
              <a:ext cx="5476875" cy="2123658"/>
            </a:xfrm>
            <a:prstGeom prst="rect">
              <a:avLst/>
            </a:prstGeom>
            <a:noFill/>
            <a:ln w="38100" cmpd="sng">
              <a:solidFill>
                <a:schemeClr val="tx1">
                  <a:alpha val="50000"/>
                </a:schemeClr>
              </a:solidFill>
            </a:ln>
            <a:effectLst>
              <a:innerShdw blurRad="127000">
                <a:prstClr val="black">
                  <a:alpha val="80000"/>
                </a:prstClr>
              </a:innerShdw>
              <a:softEdge rad="508000"/>
            </a:effectLst>
            <a:scene3d>
              <a:camera prst="orthographicFront"/>
              <a:lightRig rig="sunrise" dir="t">
                <a:rot lat="0" lon="0" rev="16200000"/>
              </a:lightRig>
            </a:scene3d>
            <a:sp3d prstMaterial="dkEdge"/>
          </p:spPr>
          <p:txBody>
            <a:bodyPr wrap="square" rtlCol="0">
              <a:spAutoFit/>
            </a:bodyPr>
            <a:lstStyle/>
            <a:p>
              <a:pPr algn="ctr"/>
              <a:r>
                <a:rPr lang="sl-SI" sz="6600" b="1" noProof="0" dirty="0">
                  <a:ln>
                    <a:gradFill flip="none" rotWithShape="1">
                      <a:gsLst>
                        <a:gs pos="0">
                          <a:schemeClr val="tx1"/>
                        </a:gs>
                        <a:gs pos="48000">
                          <a:schemeClr val="accent3">
                            <a:lumMod val="97000"/>
                            <a:lumOff val="3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solidFill>
                    <a:schemeClr val="bg1"/>
                  </a:solidFill>
                </a:rPr>
                <a:t>FINANČNI KALKULATORJI</a:t>
              </a:r>
              <a:endParaRPr lang="sl-SI" sz="4800" b="1" noProof="0" dirty="0">
                <a:ln>
                  <a:gradFill flip="none" rotWithShape="1">
                    <a:gsLst>
                      <a:gs pos="0">
                        <a:schemeClr val="tx1"/>
                      </a:gs>
                      <a:gs pos="48000">
                        <a:schemeClr val="accent3">
                          <a:lumMod val="97000"/>
                          <a:lumOff val="3000"/>
                        </a:schemeClr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16200000" scaled="1"/>
                    <a:tileRect/>
                  </a:gradFill>
                </a:ln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312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F6D18-BE63-9436-FFB8-1B57979B1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9C85581-0690-520E-FC85-B00210006BF8}"/>
              </a:ext>
            </a:extLst>
          </p:cNvPr>
          <p:cNvGrpSpPr/>
          <p:nvPr/>
        </p:nvGrpSpPr>
        <p:grpSpPr>
          <a:xfrm>
            <a:off x="952500" y="0"/>
            <a:ext cx="10287000" cy="6858000"/>
            <a:chOff x="952500" y="0"/>
            <a:chExt cx="10287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990CB17-C308-A119-C5DA-E69E5C574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0"/>
              <a:ext cx="10287000" cy="68580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67026A-E10C-99E4-D610-7DBBF9FBB37D}"/>
                </a:ext>
              </a:extLst>
            </p:cNvPr>
            <p:cNvSpPr/>
            <p:nvPr/>
          </p:nvSpPr>
          <p:spPr>
            <a:xfrm>
              <a:off x="6096000" y="381000"/>
              <a:ext cx="4989603" cy="5847755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  <a:scene3d>
                <a:camera prst="orthographicFront"/>
                <a:lightRig rig="threePt" dir="t"/>
              </a:scene3d>
              <a:sp3d extrusionH="57150">
                <a:bevelT w="25400" h="38100" prst="coolSlant"/>
                <a:bevelB w="12700"/>
              </a:sp3d>
            </a:bodyPr>
            <a:lstStyle/>
            <a:p>
              <a:pPr algn="ctr"/>
              <a:r>
                <a:rPr lang="sl-SI" sz="6600" b="1" cap="none" spc="0" noProof="0" dirty="0">
                  <a:ln w="12700">
                    <a:solidFill>
                      <a:srgbClr val="4C7430"/>
                    </a:solidFill>
                    <a:prstDash val="solid"/>
                  </a:ln>
                  <a:solidFill>
                    <a:srgbClr val="416529"/>
                  </a:solidFill>
                  <a:effectLst>
                    <a:outerShdw blurRad="60007" dist="310007" dir="7680000" sy="30000" kx="1300200" algn="ctr" rotWithShape="0">
                      <a:prstClr val="black">
                        <a:alpha val="32000"/>
                      </a:prstClr>
                    </a:outerShdw>
                  </a:effectLst>
                </a:rPr>
                <a:t>PRIMERJAVA BANČNIH DEPOZITOV</a:t>
              </a:r>
            </a:p>
            <a:p>
              <a:pPr algn="ctr"/>
              <a:endParaRPr lang="sl-SI" sz="6600" b="1" noProof="0" dirty="0">
                <a:ln w="12700">
                  <a:solidFill>
                    <a:srgbClr val="4C7430"/>
                  </a:solidFill>
                  <a:prstDash val="solid"/>
                </a:ln>
                <a:solidFill>
                  <a:srgbClr val="416529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endParaRPr>
            </a:p>
            <a:p>
              <a:pPr algn="ctr"/>
              <a:endParaRPr lang="sl-SI" sz="6600" b="1" noProof="0" dirty="0">
                <a:ln w="12700">
                  <a:solidFill>
                    <a:srgbClr val="4C7430"/>
                  </a:solidFill>
                  <a:prstDash val="solid"/>
                </a:ln>
                <a:solidFill>
                  <a:srgbClr val="416529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endParaRPr>
            </a:p>
            <a:p>
              <a:pPr algn="ctr"/>
              <a:r>
                <a:rPr lang="sl-SI" sz="4400" b="1" cap="none" spc="0" noProof="0" dirty="0">
                  <a:ln w="12700">
                    <a:solidFill>
                      <a:srgbClr val="4C7430"/>
                    </a:solidFill>
                    <a:prstDash val="solid"/>
                  </a:ln>
                  <a:solidFill>
                    <a:srgbClr val="416529"/>
                  </a:solidFill>
                  <a:effectLst>
                    <a:outerShdw blurRad="60007" dist="310007" dir="7680000" sy="30000" kx="1300200" algn="ctr" rotWithShape="0">
                      <a:prstClr val="black">
                        <a:alpha val="32000"/>
                      </a:prstClr>
                    </a:outerShdw>
                  </a:effectLst>
                </a:rPr>
                <a:t>Hitro</a:t>
              </a:r>
              <a:r>
                <a:rPr lang="sl-SI" sz="4400" b="1" noProof="0" dirty="0">
                  <a:ln w="12700">
                    <a:solidFill>
                      <a:srgbClr val="4C7430"/>
                    </a:solidFill>
                    <a:prstDash val="solid"/>
                  </a:ln>
                  <a:solidFill>
                    <a:srgbClr val="416529"/>
                  </a:solidFill>
                  <a:effectLst>
                    <a:outerShdw blurRad="60007" dist="310007" dir="7680000" sy="30000" kx="1300200" algn="ctr" rotWithShape="0">
                      <a:prstClr val="black">
                        <a:alpha val="32000"/>
                      </a:prstClr>
                    </a:outerShdw>
                  </a:effectLst>
                </a:rPr>
                <a:t> in</a:t>
              </a:r>
              <a:r>
                <a:rPr lang="sl-SI" sz="4400" b="1" cap="none" spc="0" noProof="0" dirty="0">
                  <a:ln w="12700">
                    <a:solidFill>
                      <a:srgbClr val="4C7430"/>
                    </a:solidFill>
                    <a:prstDash val="solid"/>
                  </a:ln>
                  <a:solidFill>
                    <a:srgbClr val="416529"/>
                  </a:solidFill>
                  <a:effectLst>
                    <a:outerShdw blurRad="60007" dist="310007" dir="7680000" sy="30000" kx="1300200" algn="ctr" rotWithShape="0">
                      <a:prstClr val="black">
                        <a:alpha val="32000"/>
                      </a:prstClr>
                    </a:outerShdw>
                  </a:effectLst>
                </a:rPr>
                <a:t> enostavno</a:t>
              </a:r>
              <a:r>
                <a:rPr lang="sl-SI" sz="4400" b="1" noProof="0" dirty="0">
                  <a:ln w="12700">
                    <a:solidFill>
                      <a:srgbClr val="4C7430"/>
                    </a:solidFill>
                    <a:prstDash val="solid"/>
                  </a:ln>
                  <a:solidFill>
                    <a:srgbClr val="416529"/>
                  </a:solidFill>
                  <a:effectLst>
                    <a:outerShdw blurRad="60007" dist="310007" dir="7680000" sy="30000" kx="1300200" algn="ctr" rotWithShape="0">
                      <a:prstClr val="black">
                        <a:alpha val="32000"/>
                      </a:prstClr>
                    </a:outerShdw>
                  </a:effectLst>
                </a:rPr>
                <a:t>.</a:t>
              </a:r>
              <a:endParaRPr lang="sl-SI" sz="4400" b="1" cap="none" spc="0" noProof="0" dirty="0">
                <a:ln w="12700">
                  <a:solidFill>
                    <a:srgbClr val="4C7430"/>
                  </a:solidFill>
                  <a:prstDash val="solid"/>
                </a:ln>
                <a:solidFill>
                  <a:srgbClr val="416529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3601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43E44-AE17-EF83-6281-D695D142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B909B04-00CF-DDEF-70CD-0DA3AB61B809}"/>
              </a:ext>
            </a:extLst>
          </p:cNvPr>
          <p:cNvGrpSpPr/>
          <p:nvPr/>
        </p:nvGrpSpPr>
        <p:grpSpPr>
          <a:xfrm>
            <a:off x="1524000" y="0"/>
            <a:ext cx="9144000" cy="6858000"/>
            <a:chOff x="1524000" y="0"/>
            <a:chExt cx="9144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6FBD4EA-63C8-C817-8E0C-D0D481E77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0"/>
              <a:ext cx="9144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B6A4BE-DBCF-7004-EECD-8994BA6D4B84}"/>
                </a:ext>
              </a:extLst>
            </p:cNvPr>
            <p:cNvSpPr txBox="1"/>
            <p:nvPr/>
          </p:nvSpPr>
          <p:spPr>
            <a:xfrm>
              <a:off x="6324600" y="771524"/>
              <a:ext cx="4095750" cy="2123658"/>
            </a:xfrm>
            <a:prstGeom prst="rect">
              <a:avLst/>
            </a:prstGeom>
            <a:noFill/>
            <a:ln w="38100" cmpd="sng">
              <a:solidFill>
                <a:schemeClr val="tx1">
                  <a:alpha val="50000"/>
                </a:schemeClr>
              </a:solidFill>
            </a:ln>
            <a:effectLst>
              <a:innerShdw blurRad="127000">
                <a:prstClr val="black">
                  <a:alpha val="80000"/>
                </a:prstClr>
              </a:innerShdw>
              <a:softEdge rad="508000"/>
            </a:effectLst>
            <a:scene3d>
              <a:camera prst="orthographicFront"/>
              <a:lightRig rig="sunrise" dir="t">
                <a:rot lat="0" lon="0" rev="16200000"/>
              </a:lightRig>
            </a:scene3d>
            <a:sp3d prstMaterial="dkEdge"/>
          </p:spPr>
          <p:txBody>
            <a:bodyPr wrap="square" rtlCol="0">
              <a:spAutoFit/>
            </a:bodyPr>
            <a:lstStyle/>
            <a:p>
              <a:pPr algn="ctr"/>
              <a:r>
                <a:rPr lang="sl-SI" sz="4400" b="1" noProof="0" dirty="0">
                  <a:ln>
                    <a:gradFill flip="none" rotWithShape="1">
                      <a:gsLst>
                        <a:gs pos="0">
                          <a:schemeClr val="tx1"/>
                        </a:gs>
                        <a:gs pos="48000">
                          <a:schemeClr val="accent3">
                            <a:lumMod val="97000"/>
                            <a:lumOff val="3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solidFill>
                    <a:schemeClr val="bg1"/>
                  </a:solidFill>
                </a:rPr>
                <a:t>PRIMERJAVA BANČNIH DEPOZITOV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E959E6C-E3DF-2A49-5DA9-2238DDB37E65}"/>
                </a:ext>
              </a:extLst>
            </p:cNvPr>
            <p:cNvSpPr txBox="1"/>
            <p:nvPr/>
          </p:nvSpPr>
          <p:spPr>
            <a:xfrm rot="19814177">
              <a:off x="6324599" y="4153315"/>
              <a:ext cx="4095750" cy="1446550"/>
            </a:xfrm>
            <a:prstGeom prst="rect">
              <a:avLst/>
            </a:prstGeom>
            <a:noFill/>
            <a:ln w="38100" cmpd="sng">
              <a:solidFill>
                <a:schemeClr val="tx1">
                  <a:alpha val="50000"/>
                </a:schemeClr>
              </a:solidFill>
            </a:ln>
            <a:effectLst>
              <a:innerShdw blurRad="127000">
                <a:prstClr val="black">
                  <a:alpha val="80000"/>
                </a:prstClr>
              </a:innerShdw>
              <a:softEdge rad="508000"/>
            </a:effectLst>
            <a:scene3d>
              <a:camera prst="orthographicFront"/>
              <a:lightRig rig="sunrise" dir="t">
                <a:rot lat="0" lon="0" rev="16200000"/>
              </a:lightRig>
            </a:scene3d>
            <a:sp3d prstMaterial="dkEdge"/>
          </p:spPr>
          <p:txBody>
            <a:bodyPr wrap="square" rtlCol="0">
              <a:spAutoFit/>
            </a:bodyPr>
            <a:lstStyle/>
            <a:p>
              <a:pPr algn="ctr"/>
              <a:r>
                <a:rPr lang="sl-SI" sz="4400" b="1" noProof="0" dirty="0">
                  <a:ln>
                    <a:gradFill flip="none" rotWithShape="1">
                      <a:gsLst>
                        <a:gs pos="0">
                          <a:schemeClr val="tx1"/>
                        </a:gs>
                        <a:gs pos="48000">
                          <a:schemeClr val="accent3">
                            <a:lumMod val="97000"/>
                            <a:lumOff val="3000"/>
                          </a:schemeClr>
                        </a:gs>
                        <a:gs pos="100000">
                          <a:schemeClr val="accent3">
                            <a:lumMod val="60000"/>
                            <a:lumOff val="40000"/>
                          </a:schemeClr>
                        </a:gs>
                      </a:gsLst>
                      <a:lin ang="16200000" scaled="1"/>
                      <a:tileRect/>
                    </a:gradFill>
                  </a:ln>
                  <a:solidFill>
                    <a:schemeClr val="bg1"/>
                  </a:solidFill>
                </a:rPr>
                <a:t>Hitro in enostavno.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2658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396F6-B4ED-76E8-B1AC-637D84D7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DAE54E-B0BF-D03A-CA44-658C79E3A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CD00FF-377D-7113-A882-5D2C30BCCDEC}"/>
              </a:ext>
            </a:extLst>
          </p:cNvPr>
          <p:cNvSpPr/>
          <p:nvPr/>
        </p:nvSpPr>
        <p:spPr>
          <a:xfrm>
            <a:off x="5068278" y="948034"/>
            <a:ext cx="4742472" cy="46474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sl-SI" sz="6600" b="1" cap="none" spc="0" noProof="0" dirty="0">
                <a:ln w="0">
                  <a:solidFill>
                    <a:schemeClr val="tx1">
                      <a:alpha val="54000"/>
                    </a:schemeClr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PRIMERJAVA BANČNIH DEPOZITOV</a:t>
            </a:r>
          </a:p>
          <a:p>
            <a:pPr algn="ctr"/>
            <a:endParaRPr lang="sl-SI" sz="5400" b="1" noProof="0" dirty="0">
              <a:ln w="0">
                <a:solidFill>
                  <a:schemeClr val="tx1">
                    <a:alpha val="54000"/>
                  </a:schemeClr>
                </a:solidFill>
              </a:ln>
              <a:solidFill>
                <a:schemeClr val="accent4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sl-SI" sz="3600" b="1" cap="none" spc="0" noProof="0" dirty="0">
                <a:ln w="0">
                  <a:solidFill>
                    <a:schemeClr val="tx1">
                      <a:alpha val="54000"/>
                    </a:schemeClr>
                  </a:solidFill>
                </a:ln>
                <a:solidFill>
                  <a:schemeClr val="accent4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Hitro in enostavno.</a:t>
            </a:r>
          </a:p>
        </p:txBody>
      </p:sp>
    </p:spTree>
    <p:extLst>
      <p:ext uri="{BB962C8B-B14F-4D97-AF65-F5344CB8AC3E}">
        <p14:creationId xmlns:p14="http://schemas.microsoft.com/office/powerpoint/2010/main" val="578742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338D6-589C-75C8-0F25-4A91BA1D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5BFA1AF-D2F5-8FBB-24A8-DCC9B027B00B}"/>
              </a:ext>
            </a:extLst>
          </p:cNvPr>
          <p:cNvGrpSpPr/>
          <p:nvPr/>
        </p:nvGrpSpPr>
        <p:grpSpPr>
          <a:xfrm>
            <a:off x="955070" y="0"/>
            <a:ext cx="10281859" cy="6858000"/>
            <a:chOff x="955070" y="0"/>
            <a:chExt cx="10281859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8A1E780-524A-8D76-029B-561BCB82D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070" y="0"/>
              <a:ext cx="10281859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6805A38-A7E9-713D-E615-5C1F7647D7FB}"/>
                </a:ext>
              </a:extLst>
            </p:cNvPr>
            <p:cNvSpPr/>
            <p:nvPr/>
          </p:nvSpPr>
          <p:spPr>
            <a:xfrm rot="21294431">
              <a:off x="6372225" y="1301710"/>
              <a:ext cx="3963638" cy="381642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sl-SI" sz="5400" b="1" cap="none" spc="0" noProof="0" dirty="0">
                  <a:ln w="0">
                    <a:solidFill>
                      <a:schemeClr val="tx1">
                        <a:alpha val="50000"/>
                      </a:schemeClr>
                    </a:solidFill>
                  </a:ln>
                  <a:solidFill>
                    <a:schemeClr val="bg1"/>
                  </a:solidFill>
                  <a:effectLst/>
                </a:rPr>
                <a:t>PRIMERJAVA BANČNIH DEPOZITOV</a:t>
              </a:r>
            </a:p>
            <a:p>
              <a:pPr algn="ctr"/>
              <a:endParaRPr lang="sl-SI" sz="3600" b="1" noProof="0" dirty="0">
                <a:ln w="0">
                  <a:solidFill>
                    <a:schemeClr val="tx1">
                      <a:alpha val="50000"/>
                    </a:schemeClr>
                  </a:solidFill>
                </a:ln>
                <a:solidFill>
                  <a:schemeClr val="bg1"/>
                </a:solidFill>
              </a:endParaRPr>
            </a:p>
            <a:p>
              <a:pPr algn="ctr"/>
              <a:r>
                <a:rPr lang="sl-SI" sz="3600" b="1" cap="none" spc="0" noProof="0" dirty="0">
                  <a:ln w="0">
                    <a:solidFill>
                      <a:schemeClr val="tx1">
                        <a:alpha val="50000"/>
                      </a:schemeClr>
                    </a:solidFill>
                  </a:ln>
                  <a:solidFill>
                    <a:schemeClr val="bg1"/>
                  </a:solidFill>
                  <a:effectLst/>
                </a:rPr>
                <a:t>Hitro in enostavno.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7540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BC0B6-0512-FEED-CD79-3E8A18D08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5F31610-EFFA-4B0A-945E-415221CC1707}"/>
              </a:ext>
            </a:extLst>
          </p:cNvPr>
          <p:cNvGrpSpPr/>
          <p:nvPr/>
        </p:nvGrpSpPr>
        <p:grpSpPr>
          <a:xfrm>
            <a:off x="952500" y="0"/>
            <a:ext cx="10287000" cy="6858000"/>
            <a:chOff x="952500" y="0"/>
            <a:chExt cx="10287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EB0E111-7C70-45BC-B2D6-22901A9BF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0"/>
              <a:ext cx="10287000" cy="685800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A8B700-0AB8-DD61-DCF2-B4C5CEACBDFD}"/>
                </a:ext>
              </a:extLst>
            </p:cNvPr>
            <p:cNvSpPr/>
            <p:nvPr/>
          </p:nvSpPr>
          <p:spPr>
            <a:xfrm>
              <a:off x="1288873" y="2176470"/>
              <a:ext cx="4742472" cy="443198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sl-SI" sz="6600" b="1" cap="none" spc="0" noProof="0" dirty="0">
                  <a:ln w="0">
                    <a:solidFill>
                      <a:schemeClr val="tx1">
                        <a:alpha val="54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PRIMERJAVA BANČNIH DEPOZITOV</a:t>
              </a:r>
            </a:p>
            <a:p>
              <a:pPr algn="ctr"/>
              <a:endParaRPr lang="sl-SI" sz="4400" b="1" noProof="0" dirty="0">
                <a:ln w="0">
                  <a:solidFill>
                    <a:schemeClr val="tx1">
                      <a:alpha val="54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  <a:p>
              <a:pPr algn="ctr"/>
              <a:r>
                <a:rPr lang="sl-SI" sz="3600" b="1" cap="none" spc="0" noProof="0" dirty="0">
                  <a:ln w="0">
                    <a:solidFill>
                      <a:schemeClr val="tx1">
                        <a:alpha val="54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Hitro in enostavno.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758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2D117-B5FA-E842-26EC-43865F8EA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9D3A124-C079-784A-5C57-919EE7F53DFB}"/>
              </a:ext>
            </a:extLst>
          </p:cNvPr>
          <p:cNvGrpSpPr/>
          <p:nvPr/>
        </p:nvGrpSpPr>
        <p:grpSpPr>
          <a:xfrm>
            <a:off x="3249" y="0"/>
            <a:ext cx="12185501" cy="6858000"/>
            <a:chOff x="3249" y="0"/>
            <a:chExt cx="12185501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BE4BDBD-3BD7-B645-2433-598CDF591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9" y="0"/>
              <a:ext cx="12185501" cy="6858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85FD92-5ABC-9CE5-F745-3F2262028C58}"/>
                </a:ext>
              </a:extLst>
            </p:cNvPr>
            <p:cNvSpPr/>
            <p:nvPr/>
          </p:nvSpPr>
          <p:spPr>
            <a:xfrm rot="21298701">
              <a:off x="446003" y="724446"/>
              <a:ext cx="10853192" cy="50167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sl-SI" sz="8000" b="1" dirty="0">
                  <a:ln w="6600">
                    <a:solidFill>
                      <a:schemeClr val="accent4"/>
                    </a:solidFill>
                    <a:prstDash val="solid"/>
                  </a:ln>
                  <a:solidFill>
                    <a:srgbClr val="FF0000"/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outerShdw dist="38100" dir="2700000" algn="tl" rotWithShape="0">
                      <a:schemeClr val="accent2"/>
                    </a:outerShdw>
                  </a:effectLst>
                </a:rPr>
                <a:t>IZRAČUNAJ SVOJ KREDIT</a:t>
              </a:r>
              <a:endParaRPr lang="en-US" sz="8000" b="1" dirty="0">
                <a:ln w="6600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</a:endParaRPr>
            </a:p>
            <a:p>
              <a:pPr algn="ctr"/>
              <a:r>
                <a:rPr lang="en-US" sz="8000" b="1" dirty="0">
                  <a:ln w="6600">
                    <a:solidFill>
                      <a:schemeClr val="accent4"/>
                    </a:solidFill>
                    <a:prstDash val="solid"/>
                  </a:ln>
                  <a:solidFill>
                    <a:srgbClr val="FF0000"/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outerShdw dist="38100" dir="2700000" algn="tl" rotWithShape="0">
                      <a:schemeClr val="accent2"/>
                    </a:outerShdw>
                  </a:effectLst>
                </a:rPr>
                <a:t> </a:t>
              </a:r>
            </a:p>
            <a:p>
              <a:pPr algn="ctr"/>
              <a:r>
                <a:rPr lang="sl-SI" sz="8000" b="1" dirty="0">
                  <a:ln w="6600">
                    <a:solidFill>
                      <a:schemeClr val="accent4"/>
                    </a:solidFill>
                    <a:prstDash val="solid"/>
                  </a:ln>
                  <a:solidFill>
                    <a:srgbClr val="FF0000"/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outerShdw dist="38100" dir="2700000" algn="tl" rotWithShape="0">
                      <a:schemeClr val="accent2"/>
                    </a:outerShdw>
                  </a:effectLst>
                </a:rPr>
                <a:t>brez registracije in brezplačno za vse.</a:t>
              </a:r>
              <a:endParaRPr lang="en-SI" sz="8000" b="1" dirty="0">
                <a:ln w="6600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4315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1BFC-1458-BCB0-8698-8EB284B1B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EA38ED1-3B6D-455B-77D7-374EC1A4A209}"/>
              </a:ext>
            </a:extLst>
          </p:cNvPr>
          <p:cNvGrpSpPr/>
          <p:nvPr/>
        </p:nvGrpSpPr>
        <p:grpSpPr>
          <a:xfrm>
            <a:off x="3249" y="0"/>
            <a:ext cx="12185501" cy="6858000"/>
            <a:chOff x="3249" y="0"/>
            <a:chExt cx="12185501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E630701-D463-220A-3EF0-315BBAEB8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9" y="0"/>
              <a:ext cx="12185501" cy="6858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2B4F29-782C-DC8E-116B-86E4AF83738F}"/>
                </a:ext>
              </a:extLst>
            </p:cNvPr>
            <p:cNvSpPr/>
            <p:nvPr/>
          </p:nvSpPr>
          <p:spPr>
            <a:xfrm rot="21298701">
              <a:off x="669403" y="931013"/>
              <a:ext cx="10853192" cy="44627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8000" b="1" dirty="0">
                  <a:ln w="6600">
                    <a:solidFill>
                      <a:schemeClr val="accent4"/>
                    </a:solidFill>
                    <a:prstDash val="solid"/>
                  </a:ln>
                  <a:solidFill>
                    <a:srgbClr val="FF0000"/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outerShdw dist="38100" dir="2700000" algn="tl" rotWithShape="0">
                      <a:schemeClr val="accent2"/>
                    </a:outerShdw>
                  </a:effectLst>
                </a:rPr>
                <a:t>CALCULATE YOUR LOAN</a:t>
              </a:r>
            </a:p>
            <a:p>
              <a:pPr algn="ctr"/>
              <a:r>
                <a:rPr lang="en-US" sz="4400" b="1" dirty="0">
                  <a:ln w="6600">
                    <a:solidFill>
                      <a:schemeClr val="accent4"/>
                    </a:solidFill>
                    <a:prstDash val="solid"/>
                  </a:ln>
                  <a:solidFill>
                    <a:srgbClr val="FF0000"/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outerShdw dist="38100" dir="2700000" algn="tl" rotWithShape="0">
                      <a:schemeClr val="accent2"/>
                    </a:outerShdw>
                  </a:effectLst>
                </a:rPr>
                <a:t> </a:t>
              </a:r>
            </a:p>
            <a:p>
              <a:pPr algn="ctr"/>
              <a:r>
                <a:rPr lang="en-US" sz="8000" b="1" dirty="0">
                  <a:ln w="6600">
                    <a:solidFill>
                      <a:schemeClr val="accent4"/>
                    </a:solidFill>
                    <a:prstDash val="solid"/>
                  </a:ln>
                  <a:solidFill>
                    <a:srgbClr val="FF0000"/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outerShdw dist="38100" dir="2700000" algn="tl" rotWithShape="0">
                      <a:schemeClr val="accent2"/>
                    </a:outerShdw>
                  </a:effectLst>
                </a:rPr>
                <a:t>No registration, </a:t>
              </a:r>
            </a:p>
            <a:p>
              <a:pPr algn="ctr"/>
              <a:r>
                <a:rPr lang="en-US" sz="8000" b="1" dirty="0">
                  <a:ln w="6600">
                    <a:solidFill>
                      <a:schemeClr val="accent4"/>
                    </a:solidFill>
                    <a:prstDash val="solid"/>
                  </a:ln>
                  <a:solidFill>
                    <a:srgbClr val="FF0000"/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outerShdw dist="38100" dir="2700000" algn="tl" rotWithShape="0">
                      <a:schemeClr val="accent2"/>
                    </a:outerShdw>
                  </a:effectLst>
                </a:rPr>
                <a:t>free for everyone</a:t>
              </a:r>
              <a:r>
                <a:rPr lang="sl-SI" sz="8000" b="1" dirty="0">
                  <a:ln w="6600">
                    <a:solidFill>
                      <a:schemeClr val="accent4"/>
                    </a:solidFill>
                    <a:prstDash val="solid"/>
                  </a:ln>
                  <a:solidFill>
                    <a:srgbClr val="FF0000"/>
                  </a:solidFill>
                  <a:effectLst>
                    <a:glow rad="63500">
                      <a:schemeClr val="accent4">
                        <a:satMod val="175000"/>
                        <a:alpha val="40000"/>
                      </a:schemeClr>
                    </a:glow>
                    <a:outerShdw dist="38100" dir="2700000" algn="tl" rotWithShape="0">
                      <a:schemeClr val="accent2"/>
                    </a:outerShdw>
                  </a:effectLst>
                </a:rPr>
                <a:t>.</a:t>
              </a:r>
              <a:endParaRPr lang="en-SI" sz="8000" b="1" dirty="0">
                <a:ln w="6600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2054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3428</TotalTime>
  <Words>79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Ziga Sitar</dc:creator>
  <cp:lastModifiedBy>Ziga Sitar</cp:lastModifiedBy>
  <cp:revision>8</cp:revision>
  <dcterms:created xsi:type="dcterms:W3CDTF">2026-02-27T13:21:40Z</dcterms:created>
  <dcterms:modified xsi:type="dcterms:W3CDTF">2026-05-11T21:04:17Z</dcterms:modified>
</cp:coreProperties>
</file>